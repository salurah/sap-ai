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5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automation / augmentation</c:v>
                </c:pt>
              </c:strCache>
            </c:strRef>
          </c:tx>
          <c:spPr>
            <a:solidFill>
              <a:srgbClr val="3E6F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75-433A-AF83-826ED9F58042}"/>
              </c:ext>
            </c:extLst>
          </c:dPt>
          <c:dPt>
            <c:idx val="1"/>
            <c:invertIfNegative val="0"/>
            <c:bubble3D val="0"/>
            <c:spPr>
              <a:solidFill>
                <a:srgbClr val="6BD8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75-433A-AF83-826ED9F58042}"/>
              </c:ext>
            </c:extLst>
          </c:dPt>
          <c:dPt>
            <c:idx val="2"/>
            <c:invertIfNegative val="0"/>
            <c:bubble3D val="0"/>
            <c:spPr>
              <a:solidFill>
                <a:srgbClr val="18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75-433A-AF83-826ED9F58042}"/>
              </c:ext>
            </c:extLst>
          </c:dPt>
          <c:dPt>
            <c:idx val="3"/>
            <c:invertIfNegative val="0"/>
            <c:bubble3D val="0"/>
            <c:spPr>
              <a:solidFill>
                <a:srgbClr val="B79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75-433A-AF83-826ED9F5804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Humans</c:v>
                </c:pt>
                <c:pt idx="1">
                  <c:v>RPA</c:v>
                </c:pt>
                <c:pt idx="2">
                  <c:v>AI / Gen AI</c:v>
                </c:pt>
                <c:pt idx="3">
                  <c:v>Agentic 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48</c:v>
                </c:pt>
                <c:pt idx="2">
                  <c:v>78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75-433A-AF83-826ED9F580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135287552"/>
        <c:axId val="135289088"/>
      </c:barChart>
      <c:catAx>
        <c:axId val="1352875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AF0FF"/>
                </a:solidFill>
                <a:latin typeface="Calibri"/>
              </a:defRPr>
            </a:pPr>
            <a:endParaRPr lang="en-US"/>
          </a:p>
        </c:txPr>
        <c:crossAx val="135289088"/>
        <c:crosses val="autoZero"/>
        <c:auto val="1"/>
        <c:lblAlgn val="ctr"/>
        <c:lblOffset val="100"/>
        <c:noMultiLvlLbl val="1"/>
      </c:catAx>
      <c:valAx>
        <c:axId val="135289088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135287552"/>
        <c:crosses val="autoZero"/>
        <c:crossBetween val="between"/>
      </c:valAx>
      <c:spPr>
        <a:solidFill>
          <a:srgbClr val="0A11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1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99AEE-E658-4D8C-9187-D6C14A5E0035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993AC-CEE6-4FCD-82C7-3DAD105C5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25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simple case: not a vision statement, but a practical proposal about the work people do every day. We are a RISE Validated Partner; capability already exists. Question is where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recommendation first so everything after has context. Stress low risk: runs on BTP, governed by existing controls. Be honest that figures are benchmarks, not yet our results — the pilot proves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places everyone recognises. None is strategic in the abstract — they are the repetitive steps and the waiting. Each maps to a solution Capgemini already runs on SAP.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whole proposal in five plain questions. WHY: cost + 2027 deadline. WHAT: SAP Business AI, three patterns. HOW: on BTP, our data stays ours. WHERE: across functions and lifecycle. WHEN: now, value is greatest planned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how many invoices we process monthly and the FTE hours behind them. Lowest-risk, fastest-payback case and the strongest pilot candidate. Comparable deliveries hit 50% cost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Joule entitlement means no new licence cost to start. Frame the win as cycle-time and compliance, not headcount.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working capital — better forecasts free cash tied in inventory. The shipment monitor is resilience the board cares about post-disruption.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as deflection plus quality — not replacing agents but removing repetitive tickets so they focus on complex, high-value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client example: 18% cost saving over two years using Capgemini SAP BTP DevCockpit. This compounds — it makes every other solution cheaper to build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principle that reassures the board: people keep the judgement, machines take the repetition. Direction of travel matters more than the exact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questions this room always asks: does data leak (no, stays in BTP), are we compliant (AI Pact signatory, Legal AI Office), approved tools only (PSA, CFB, Code of Ethics 2021), clean core + output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stages: Shape, Establish (the two pilots), Build (roll out the rest), Deploy (scale, manage cost, improve data). Each stage earned by the results of the one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already exists inside the firm. This is switching on what we have built, not a standing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Logo C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76F6-E981-8407-5AD7-E8583881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723" y="1489457"/>
            <a:ext cx="6480175" cy="1677988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kumimoji="0" lang="x-none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D5C00-226E-1369-C48F-FBB9D0A2D2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64136" y="3167445"/>
            <a:ext cx="6478587" cy="348286"/>
          </a:xfrm>
          <a:prstGeom prst="rect">
            <a:avLst/>
          </a:prstGeom>
        </p:spPr>
        <p:txBody>
          <a:bodyPr/>
          <a:lstStyle>
            <a:lvl1pPr algn="ctr">
              <a:defRPr lang="en-GB" sz="2000" kern="1200" dirty="0" smtClean="0">
                <a:solidFill>
                  <a:schemeClr val="bg1"/>
                </a:solidFill>
                <a:latin typeface="Ubuntu Light" panose="020B0304030602030204" pitchFamily="34" charset="0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x-none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41DE9FA-300D-BBCE-A5BC-ECE60B3F1F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3761" y="3709694"/>
            <a:ext cx="6479535" cy="253029"/>
          </a:xfrm>
          <a:prstGeom prst="rect">
            <a:avLst/>
          </a:prstGeom>
        </p:spPr>
        <p:txBody>
          <a:bodyPr/>
          <a:lstStyle>
            <a:lvl1pPr algn="ctr">
              <a:defRPr lang="en-GB" sz="1400" kern="1200" dirty="0" smtClean="0">
                <a:solidFill>
                  <a:schemeClr val="bg1"/>
                </a:solidFill>
                <a:latin typeface="Ubuntu Light" panose="020B0304030602030204" pitchFamily="34" charset="0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x-none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019898-C562-0E25-C4F3-334360D0319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175885" y="4642089"/>
            <a:ext cx="12564529" cy="2824804"/>
            <a:chOff x="5094083" y="5360390"/>
            <a:chExt cx="3039349" cy="683316"/>
          </a:xfrm>
          <a:solidFill>
            <a:schemeClr val="tx2"/>
          </a:solidFill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F8CB933C-09AA-8C71-2E78-1561B27414F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99E6D307-271F-C8DB-706F-FE50815F9A39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C39B46B1-97A6-4B30-142D-E2A1330E05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BFEC525-2C7E-E980-B007-932804D5D51E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8">
              <a:extLst>
                <a:ext uri="{FF2B5EF4-FFF2-40B4-BE49-F238E27FC236}">
                  <a16:creationId xmlns:a16="http://schemas.microsoft.com/office/drawing/2014/main" id="{4A1347D2-8F0A-9DF0-EE43-F2AA0C1B421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98D74-27E3-F044-4F08-EF3F7C226178}"/>
              </a:ext>
            </a:extLst>
          </p:cNvPr>
          <p:cNvSpPr/>
          <p:nvPr userDrawn="1"/>
        </p:nvSpPr>
        <p:spPr>
          <a:xfrm>
            <a:off x="-902128" y="2536529"/>
            <a:ext cx="4660490" cy="289102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21A38"/>
              </a:gs>
              <a:gs pos="30000">
                <a:srgbClr val="0058AB"/>
              </a:gs>
              <a:gs pos="70000">
                <a:srgbClr val="1DB7F3"/>
              </a:gs>
            </a:gsLst>
            <a:lin ang="0" scaled="0"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77B1B2-8ECC-4719-803F-E7EBCFD4BEF8}"/>
              </a:ext>
            </a:extLst>
          </p:cNvPr>
          <p:cNvSpPr/>
          <p:nvPr userDrawn="1"/>
        </p:nvSpPr>
        <p:spPr>
          <a:xfrm>
            <a:off x="7696229" y="3673621"/>
            <a:ext cx="4660490" cy="289102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21A38"/>
              </a:gs>
              <a:gs pos="30000">
                <a:srgbClr val="0058AB"/>
              </a:gs>
              <a:gs pos="70000">
                <a:srgbClr val="1DB7F3"/>
              </a:gs>
            </a:gsLst>
            <a:lin ang="0" scaled="0"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973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D315-B3A3-E6A4-7C08-F13EF326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950" y="1489457"/>
            <a:ext cx="7563610" cy="167798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AI Capabilities of  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0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SAP AI to work on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operations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practical, fundable solutions that use Capgemini's SAP Business AI to remove friction from the work our people do every day — finance, procurement, supply chain, customer service and SAP delivery.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4892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5440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investment in AI &amp; Gen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4892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931920" y="5440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consultants globally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4892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0" y="5440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use cases on SAP foundation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E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SAP AI Practice   |   RISE with SAP Validated Partner   | 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RECOMMENDATION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low-risk first wave — not a moonshot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already an SAP RISE Validated Partner with a proven Gen AI toolchain and trained talent. The opportunity is to apply that capability to the routine, repetitive work that quietly costs us time and money. We recommend approving a five-solution first wave, deployed inside our existing SAP environment, with measurable targets and clear guardrails.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6112" y="3090672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21868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12" y="42062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to launch five named solutions and fund a 90-day pilot for the two highest-return cases — Touchless AP and Demand Prediction.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83464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72584" y="3090672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B79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1868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2584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low risk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72584" y="42062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run on SAP Business Technology Platform; data never leaves our secure environment. Each is governed by Capgemini's Gen AI Guidelines and EU AI Act controls.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93024" y="283464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49056" y="3090672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321868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49056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49056" y="42062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benchmarks from comparable Capgemini deliveries: up to 50% lower invoice cost, ~95% less manual data entry, 15–40% faster SAP development.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PROBLEMS WE FEEL EVERY 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friction actually lives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strategic abstractions. They are the manual steps, hand-offs and waiting that repeat across the business. Each maps to a solution Capgemini already runs on SAP.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2706624"/>
            <a:ext cx="548640" cy="548640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82549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3832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" y="365760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processed by hand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9536" y="44348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Keying, matching and chasing exceptions slows month-end and invites error.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46888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145536" y="2706624"/>
            <a:ext cx="548640" cy="548640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82549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45536" y="33832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145536" y="365760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PO creation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45536" y="44348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and approving purchase orders is manual and inconsistent across teams.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212080" y="246888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431536" y="2706624"/>
            <a:ext cx="548640" cy="548640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282549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31536" y="33832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31536" y="365760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guesswork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31536" y="44348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drift, causing both stockouts and excess inventory.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498080" y="246888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7717536" y="2706624"/>
            <a:ext cx="548640" cy="548640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408" y="282549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17536" y="33832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717536" y="365760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overload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717536" y="44348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queue behind agents; self-service is limited.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784080" y="246888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10003536" y="2706624"/>
            <a:ext cx="548640" cy="548640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408" y="2825496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003536" y="33832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IT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0003536" y="365760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&amp; slow builds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0003536" y="44348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code, documentation and testing consume delivery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IN FIVE QUESTIONS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what, how, where — and when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27080" cy="914400"/>
          </a:xfrm>
          <a:prstGeom prst="roundRect">
            <a:avLst>
              <a:gd name="adj" fmla="val 70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911096"/>
            <a:ext cx="475488" cy="47548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11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691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971800" y="180136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routine work costs us and the clock is running — the 2027 on-premise end-of-maintenance deadline drives the move to cloud. Our CEO backs responsible Gen AI; the €2B capability is funded and ready.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10927080" cy="914400"/>
          </a:xfrm>
          <a:prstGeom prst="roundRect">
            <a:avLst>
              <a:gd name="adj" fmla="val 70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68680" y="2916936"/>
            <a:ext cx="475488" cy="47548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017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697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971800" y="280720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AI via three proven patterns — embedded AI (Touchless AP), conversational Gen AI through SAP Joule, and custom use cases — under our four Business AI pillars.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10927080" cy="914400"/>
          </a:xfrm>
          <a:prstGeom prst="roundRect">
            <a:avLst>
              <a:gd name="adj" fmla="val 70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68680" y="3922776"/>
            <a:ext cx="475488" cy="47548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B79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023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703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971800" y="381304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SAP Business Technology Platform, inside our secure boundary. Delivered with Capgemini's Dev Cockpit, following Clean Core principles and governed by PSA, the Cross-Functional Board and EU AI Act controls.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" y="4709160"/>
            <a:ext cx="10927080" cy="914400"/>
          </a:xfrm>
          <a:prstGeom prst="roundRect">
            <a:avLst>
              <a:gd name="adj" fmla="val 70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68680" y="4928616"/>
            <a:ext cx="475488" cy="47548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0292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709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2971800" y="481888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Finance, Procurement, Supply Chain, Human Capital and Sales — at every SAP lifecycle phase, industry-proven and geography-ready (EU, UK, USA, APAC, Middle East).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" y="5715000"/>
            <a:ext cx="10927080" cy="914400"/>
          </a:xfrm>
          <a:prstGeom prst="roundRect">
            <a:avLst>
              <a:gd name="adj" fmla="val 70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868680" y="5934456"/>
            <a:ext cx="475488" cy="47548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B79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60350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5715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2971800" y="5824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value is greatest when AI is planned early. Start with a 90-day pilot of the two highest-return cases, then scale on measured results, staying ahead of the 2027 deadline.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01 — FINANCE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Touchless Accounts Payable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reads incoming invoices, matches them to purchase orders and posts them automatically, escalating only genuine exceptions to a person. Built on SAP with Capgemini's Touchless AP and ML cash-application accelerators.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766560" cy="3474720"/>
          </a:xfrm>
          <a:prstGeom prst="roundRect">
            <a:avLst>
              <a:gd name="adj" fmla="val 2105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0120" y="3017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invoice capture and automated three-way matching in SAP.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clear cash application and reconciliation.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only true exceptions to AP staff; auto-post the clean majority.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straight-through rate weekly; expand scope vendor by vendor.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27432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A1140"/>
          </a:solidFill>
          <a:ln w="12700">
            <a:solidFill>
              <a:srgbClr val="3A2A6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552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IMPACT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3611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7955280" y="41788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invoice-processing cost savings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55280" y="4800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7955280" y="53675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data entry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02 — PROCUREMENT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 Genius + Joule-assisted ordering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Joule lets staff create purchase and sales orders through plain language, while Capgemini's Auto PO Genius and Intelligent Procurement recommend, draft and route orders — turning a multi-step task into a guided conversation inside SAP.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766560" cy="3474720"/>
          </a:xfrm>
          <a:prstGeom prst="roundRect">
            <a:avLst>
              <a:gd name="adj" fmla="val 2105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0120" y="3017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Joule for natural-language 'create PO / SO' actions.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 PO Genius to draft orders from demand signals and catalogues.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Intelligent Procurement to flag the best source and price.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 approval on spend thresholds; automate the routine remainder.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27432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A1140"/>
          </a:solidFill>
          <a:ln w="12700">
            <a:solidFill>
              <a:srgbClr val="3A2A6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552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LANDS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36118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RISE user already receives 2,500 free Joule messages per year — so the conversational layer is part of our entitlement.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55280" y="47091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ordering reduces maverick spend and frees buyers for negotiation.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03 — SUPPLY CHAIN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demand prediction &amp; prescriptive supply chain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Capgemini's demand-prediction and prescriptive supply-chain use cases sharpen forecasts and recommend inventory actions, with a shipment monitor that protects continuity when disruptions hit.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766560" cy="3474720"/>
          </a:xfrm>
          <a:prstGeom prst="roundRect">
            <a:avLst>
              <a:gd name="adj" fmla="val 2105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0120" y="3017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demand prediction against live SAP transactional data.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forecasts into inventory recommendations to cut stockouts and excess.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shipment monitor as a business-continuity early-warning tool.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sales &amp; operations planning fortnightly against forecast accuracy.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27432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A1140"/>
          </a:solidFill>
          <a:ln w="12700">
            <a:solidFill>
              <a:srgbClr val="3A2A6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552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IMPACT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3611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7955280" y="41788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sales &amp; operational planning effort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55280" y="4800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forecasts free working capital currently tied up in inventory.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04 — CUSTOMER EXPERIENCE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for Customer Experience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Capgemini's Gen AI for CX offering provides four assistants — lifting routine load off agents while improving response quality. The aim is deflection plus quality, not replacing people.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14400" y="3035808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16382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chatbot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14400" y="4526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routine questions instantly, around the clock.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502152" y="274320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776472" y="3035808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316382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76472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knowledge assistant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76472" y="4526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agents the right answer faster.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64224" y="274320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638544" y="3035808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16382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38544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offers assistant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38544" y="4526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sales-team performance.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226296" y="274320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9500616" y="3035808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316382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0616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assistant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500616" y="4526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Personalises the customer journey.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05 — SAP DELIVERY &amp;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for Software Engineering (Dev Cockpit)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Capgemini's Development Cockpit injects Gen AI across the SAP lifecycle — generating and reviewing code, producing design and test documents, and analysing custom-code impact — to speed delivery and reduce the technical debt that slows future change.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0E2440"/>
          </a:solidFill>
          <a:ln w="12700">
            <a:solidFill>
              <a:srgbClr val="2A5A82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29809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05840" y="44805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development activities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16552" y="28803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0E2440"/>
          </a:solidFill>
          <a:ln w="12700">
            <a:solidFill>
              <a:srgbClr val="2A5A82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690872" y="3520440"/>
            <a:ext cx="29809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&gt;15%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782312" y="44805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in total cost of ownership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93024" y="28803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1A1140"/>
          </a:solidFill>
          <a:ln w="12700">
            <a:solidFill>
              <a:srgbClr val="3A2A6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467344" y="3520440"/>
            <a:ext cx="29809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months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558784" y="4480560"/>
            <a:ext cx="27980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project-plan reduction with the augmented rollout toolkit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HOW THE WORK CHANGES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steps to augmented 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Capgemini's delivery model moves each task up a ladder — from people doing everything, to rule-based automation, to Gen AI assistance, to autonomous agents handling the routine. People keep the judgement; machines take the repetition.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560320"/>
          <a:ext cx="10881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share by task type, based on Capgemini's Order-to-Cash augmentation model.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SECURE &amp; RESPONSIBLE BY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answered up front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solution runs inside controls that already exist in our SAP and Capgemini governance framework.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6112" y="2496312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62432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1546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stays ours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12" y="3611880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and Gen AI prompts are managed within SAP BTP. The Mistral AI–SAP–Capgemini architecture keeps innovation possible without exposing data to third parties.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81928" y="22402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537960" y="2496312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B79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62432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37960" y="31546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37960" y="3611880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is an early signatory to the EU AI Pact; the Group Legal AI Office monitors the EU AI Act and runs a prohibited-practices programme.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315968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96112" y="4572000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70001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" y="5230368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tools only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96112" y="568756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passes the Procure-Secure-Access process; internal use cases are cleared by the Cross-Functional Board. A Code of Ethics for AI has been in place since 2021.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81928" y="4315968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537960" y="4572000"/>
            <a:ext cx="566928" cy="566928"/>
          </a:xfrm>
          <a:prstGeom prst="ellipse">
            <a:avLst/>
          </a:prstGeom>
          <a:solidFill>
            <a:srgbClr val="070C24"/>
          </a:solidFill>
          <a:ln w="15875">
            <a:solidFill>
              <a:srgbClr val="B79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70001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37960" y="5230368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core, output checked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37960" y="568756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follow SAP Clean Core principles so upgrades stay smooth, and AI output is reviewed for accuracy and bias before it is used.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HOW WE PHASE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adoption path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Capgemini's proven Gen AI journey — value comes fastest when planning happens early. We earn the right to each stage with the results of the one before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SHAPE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&amp; size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five use cases, define guardrails, and build the business case with Gen AI sizing.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02152" y="260604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76472" y="292608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76472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76472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ESTABLISH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76472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two cases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76472" y="4572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pilots of Touchless AP and Demand Prediction; finalise the target operating model.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64224" y="260604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38544" y="292608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18C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38544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38544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BUILD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38544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rest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38544" y="4572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Joule procurement, Gen AI for CX and Dev Cockpit; reduce technical debt in parallel.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26296" y="260604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A1140"/>
          </a:solidFill>
          <a:ln w="12700">
            <a:solidFill>
              <a:srgbClr val="3A2A6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500616" y="2926080"/>
            <a:ext cx="640080" cy="640080"/>
          </a:xfrm>
          <a:prstGeom prst="ellipse">
            <a:avLst/>
          </a:prstGeom>
          <a:solidFill>
            <a:srgbClr val="070C24"/>
          </a:solidFill>
          <a:ln w="19050">
            <a:solidFill>
              <a:srgbClr val="B79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500616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00616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DEPLOY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0616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sustain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00616" y="4572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scale, manage Gen AI consumption (AI Units), and never stop improving data quality.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18C3F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8A5CF6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WHY WE CAN DELIVER THIS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already exists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Gen-AI-aware staff (88%)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02152" y="246888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30752" y="2971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76472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SAP-validated AI use cases live (VPUCs)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64224" y="246888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92824" y="2971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38544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SAP-certified resources globally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26296" y="246888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111B40"/>
          </a:solidFill>
          <a:ln w="12700">
            <a:solidFill>
              <a:srgbClr val="26345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454896" y="2971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500616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RISE with SAP Validated Partner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was the first partner on SAP Joule Studio and a 2025 SAP Pinnacle Award winner for Business AI partner innovation.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D315-B3A3-E6A4-7C08-F13EF326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950" y="1489457"/>
            <a:ext cx="7563610" cy="167798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Thank You 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2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1955</Words>
  <Application>Microsoft Office PowerPoint</Application>
  <PresentationFormat>Widescreen</PresentationFormat>
  <Paragraphs>178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Ubuntu</vt:lpstr>
      <vt:lpstr>Ubuntu Light</vt:lpstr>
      <vt:lpstr>Office Theme</vt:lpstr>
      <vt:lpstr>AI Capabilities of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Putting SAP AI to Work on Everyday Operations</dc:title>
  <dc:subject>PptxGenJS Presentation</dc:subject>
  <dc:creator>SAP AI Practice</dc:creator>
  <cp:lastModifiedBy>Rahul Salunke</cp:lastModifiedBy>
  <cp:revision>5</cp:revision>
  <dcterms:created xsi:type="dcterms:W3CDTF">2026-06-17T06:13:56Z</dcterms:created>
  <dcterms:modified xsi:type="dcterms:W3CDTF">2026-06-17T08:47:02Z</dcterms:modified>
</cp:coreProperties>
</file>